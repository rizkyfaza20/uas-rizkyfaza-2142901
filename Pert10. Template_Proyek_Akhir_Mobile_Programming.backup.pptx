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3392" y="748531"/>
            <a:ext cx="6297216" cy="36464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177156"/>
            <a:ext cx="428625" cy="571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09142" y="2197847"/>
            <a:ext cx="572571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[Nama Aplikasi Anda]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1709142" y="2944788"/>
            <a:ext cx="57257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Solusi Mobile untuk [Masalah yang Diselesaikan]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548658" y="3453780"/>
            <a:ext cx="20466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Nama Mahasiswa / NIM / Kelas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09142" y="3809181"/>
            <a:ext cx="57257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Dosen Pengampu: [Nama Dosen]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Latar Belakang &amp; Rumusan Masalah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064419"/>
            <a:ext cx="133945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2938" y="1416248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Jelaskan konteks mengapa aplikasi ini perlu dibuat. Apa tren saat ini yang mendukung ide Anda?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42938" y="1934840"/>
            <a:ext cx="3571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Sebutkan data atau observasi awal yang mendasari pentingnya solusi mobile dalam bidang ini.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714875" y="850106"/>
            <a:ext cx="4000500" cy="32146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083171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07794" y="1064419"/>
            <a:ext cx="13716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Masalah Utama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29188" y="14162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Identifikasi masalah nyata pertama yang dihadapi pengguna.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929188" y="18734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Identifikasi masalah nyata kedua yang menghambat efisiensi.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929188" y="2330648"/>
            <a:ext cx="3571875" cy="350044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Bagaimana keterbatasan solusi yang ada saat ini (jika ada).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416248"/>
            <a:ext cx="128588" cy="128588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73448"/>
            <a:ext cx="128588" cy="12858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330648"/>
            <a:ext cx="128588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Tujuan &amp; Manfaat Proyek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261935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1452553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03" y="1235869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19" y="1778794"/>
            <a:ext cx="22621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Tujuan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148483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8669" y="2112764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Apa yang ingin dicapai melalui pengembangan aplikasi ini.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671372"/>
            <a:ext cx="100013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8669" y="2635653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Otomatisasi proses bisnis atau kemudahan akses informasi.</a:t>
            </a:r>
            <a:endParaRPr lang="en-US" sz="850" dirty="0"/>
          </a:p>
        </p:txBody>
      </p:sp>
      <p:sp>
        <p:nvSpPr>
          <p:cNvPr id="12" name="Shape 6"/>
          <p:cNvSpPr/>
          <p:nvPr/>
        </p:nvSpPr>
        <p:spPr>
          <a:xfrm>
            <a:off x="3262294" y="850106"/>
            <a:ext cx="2619384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4286222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385" y="1235869"/>
            <a:ext cx="257175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40888" y="1778794"/>
            <a:ext cx="226219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Manfaat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2148483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12338" y="2112764"/>
            <a:ext cx="209074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Dampak positif bagi pengguna akhir aplikasi.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888" y="2671372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612338" y="2635653"/>
            <a:ext cx="209074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Efisiensi waktu dan tenaga bagi stakeholder terkait.</a:t>
            </a:r>
            <a:endParaRPr lang="en-US" sz="850" dirty="0"/>
          </a:p>
        </p:txBody>
      </p:sp>
      <p:sp>
        <p:nvSpPr>
          <p:cNvPr id="20" name="Shape 11"/>
          <p:cNvSpPr/>
          <p:nvPr/>
        </p:nvSpPr>
        <p:spPr>
          <a:xfrm>
            <a:off x="6095991" y="850106"/>
            <a:ext cx="2619356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2"/>
          <p:cNvSpPr/>
          <p:nvPr/>
        </p:nvSpPr>
        <p:spPr>
          <a:xfrm>
            <a:off x="7119919" y="1064419"/>
            <a:ext cx="571500" cy="571500"/>
          </a:xfrm>
          <a:prstGeom prst="ellipse">
            <a:avLst/>
          </a:prstGeom>
          <a:solidFill>
            <a:srgbClr val="E8F0FE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2794" y="1235869"/>
            <a:ext cx="28575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74584" y="1778794"/>
            <a:ext cx="22621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Target Pengguna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84" y="2148483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446034" y="2112764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Siapa yang akan menggunakan aplikasi ini (Persona Pengguna).</a:t>
            </a:r>
            <a:endParaRPr lang="en-US" sz="8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584" y="2671372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446034" y="2635653"/>
            <a:ext cx="2090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Karakteristik spesifik dari audiens target Anda.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Metodologi Pengembangan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8286750" cy="8054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957263"/>
            <a:ext cx="7858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Model: Agile / Scrum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2938" y="1273373"/>
            <a:ext cx="7858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Jelaskan mengapa metode ini dipilih. Misalnya: Fleksibilitas dalam perubahan kebutuhan dan pengembangan iteratif yang cepat sangat cocok untuk aplikasi mobile.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072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8" y="2019895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86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Analisis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2862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Identifikasi fitur dan kebutuhan sistem.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397" y="2084189"/>
            <a:ext cx="125016" cy="14287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66461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2019895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8597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Desain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08597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Perancangan UI/UX dan Arsitektur Data.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747" y="2084189"/>
            <a:ext cx="125016" cy="14287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3219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6984" y="2019895"/>
            <a:ext cx="250031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433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Coding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374332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Implementasi kode program utama.</a:t>
            </a:r>
            <a:endParaRPr lang="en-US" sz="7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7097" y="2084189"/>
            <a:ext cx="125016" cy="14287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97931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9338" y="2019895"/>
            <a:ext cx="200025" cy="20002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0067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Testing</a:t>
            </a:r>
            <a:endParaRPr lang="en-US" sz="950" dirty="0"/>
          </a:p>
        </p:txBody>
      </p:sp>
      <p:sp>
        <p:nvSpPr>
          <p:cNvPr id="25" name="Text 15"/>
          <p:cNvSpPr/>
          <p:nvPr/>
        </p:nvSpPr>
        <p:spPr>
          <a:xfrm>
            <a:off x="5400675" y="2705695"/>
            <a:ext cx="1657350" cy="280002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Uji coba fungsional dan perbaikan bug.</a:t>
            </a:r>
            <a:endParaRPr lang="en-US" sz="7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4447" y="2084189"/>
            <a:ext cx="125016" cy="14287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7636669" y="1869877"/>
            <a:ext cx="500063" cy="500063"/>
          </a:xfrm>
          <a:prstGeom prst="ellipse">
            <a:avLst/>
          </a:prstGeom>
          <a:solidFill>
            <a:srgbClr val="1A73E8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6688" y="2019895"/>
            <a:ext cx="200025" cy="20002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058025" y="2477095"/>
            <a:ext cx="1657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0" name="Text 18"/>
          <p:cNvSpPr/>
          <p:nvPr/>
        </p:nvSpPr>
        <p:spPr>
          <a:xfrm>
            <a:off x="7058025" y="2705695"/>
            <a:ext cx="1657350" cy="14000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Rilis aplikasi ke platform target.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Analisis Kebutuhan &amp; Komponen Mobile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967085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957263"/>
            <a:ext cx="138588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Perangkat Lunak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78669" y="1255514"/>
            <a:ext cx="4714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Bahasa: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285875" y="1255514"/>
            <a:ext cx="11269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Kotlin / Swift / Dart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78669" y="1501973"/>
            <a:ext cx="71080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Framework: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525191" y="1501973"/>
            <a:ext cx="12519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 / React Native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8669" y="1748433"/>
            <a:ext cx="2339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48345" y="1748433"/>
            <a:ext cx="149661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Android Studio / VS Code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61297" y="778669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609" y="967085"/>
            <a:ext cx="171450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4216" y="957263"/>
            <a:ext cx="1489472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Komponen Mobile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11341" y="1255514"/>
            <a:ext cx="4429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9972" y="1255514"/>
            <a:ext cx="1714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GPS, Kamera, Akselerometer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011341" y="1501973"/>
            <a:ext cx="3089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Fitur: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356027" y="1501973"/>
            <a:ext cx="173235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 Notifications, Biometrik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011341" y="1748433"/>
            <a:ext cx="500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Koneksi: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547122" y="1748433"/>
            <a:ext cx="135195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Bluetooth / Wi-Fi / NFC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28625" y="2671763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860179"/>
            <a:ext cx="150019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0113" y="2850356"/>
            <a:ext cx="138767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Manajemen Data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8669" y="3148608"/>
            <a:ext cx="3429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Local: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7288" y="3148608"/>
            <a:ext cx="134123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SQLite / Room / Realm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78669" y="3395067"/>
            <a:ext cx="3804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Cloud: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94792" y="3395067"/>
            <a:ext cx="137338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/ AWS Amplify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78669" y="3641527"/>
            <a:ext cx="2286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API: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42988" y="3641527"/>
            <a:ext cx="13287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API / GraphQL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661297" y="2671763"/>
            <a:ext cx="4054078" cy="1714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09" y="2860179"/>
            <a:ext cx="128588" cy="1714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11353" y="2850356"/>
            <a:ext cx="173414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Kebutuhan Minimum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011341" y="3148608"/>
            <a:ext cx="20359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OS: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250656" y="3148608"/>
            <a:ext cx="144303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Android 8.0+ / iOS 13.0+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5011341" y="3395067"/>
            <a:ext cx="3107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RAM: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5357813" y="3395067"/>
            <a:ext cx="215919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2GB (Recommended 4GB)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011341" y="3641527"/>
            <a:ext cx="4911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Storage: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538192" y="3641527"/>
            <a:ext cx="11001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100MB Free Space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Arsitektur Sistem &amp; Diagram Alir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3228975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09948"/>
            <a:ext cx="176808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902" y="992981"/>
            <a:ext cx="12055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Pola Arsitektur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2938" y="1326952"/>
            <a:ext cx="28003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Penjelasan pola arsitektur yang digunakan (misal: MVVM, MVC, atau Clean Architecture).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642938" y="1835553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2938" y="1835553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(UI)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94" y="2399909"/>
            <a:ext cx="71438" cy="1428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2938" y="2673158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2938" y="2673158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MODEL / CONTROLLER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394" y="3237514"/>
            <a:ext cx="71438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2938" y="3510762"/>
            <a:ext cx="2800350" cy="428625"/>
          </a:xfrm>
          <a:prstGeom prst="rect">
            <a:avLst/>
          </a:prstGeom>
          <a:solidFill>
            <a:srgbClr val="F8F9FA"/>
          </a:solidFill>
          <a:ln w="18288">
            <a:solidFill>
              <a:srgbClr val="1A73E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42938" y="3510762"/>
            <a:ext cx="2800350" cy="42862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(DATA)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3871913" y="778669"/>
            <a:ext cx="4843463" cy="35718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225" y="1009948"/>
            <a:ext cx="176808" cy="1571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70189" y="992981"/>
            <a:ext cx="150554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Alur Logika Utama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086225" y="1326952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Shape 13"/>
          <p:cNvSpPr/>
          <p:nvPr/>
        </p:nvSpPr>
        <p:spPr>
          <a:xfrm>
            <a:off x="4193381" y="1473398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4"/>
          <p:cNvSpPr/>
          <p:nvPr/>
        </p:nvSpPr>
        <p:spPr>
          <a:xfrm>
            <a:off x="4193381" y="147339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600" dirty="0"/>
          </a:p>
        </p:txBody>
      </p:sp>
      <p:sp>
        <p:nvSpPr>
          <p:cNvPr id="22" name="Text 15"/>
          <p:cNvSpPr/>
          <p:nvPr/>
        </p:nvSpPr>
        <p:spPr>
          <a:xfrm>
            <a:off x="4471988" y="1467678"/>
            <a:ext cx="303252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membuka aplikasi dan melakukan autentikasi.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4086225" y="1791295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4" name="Shape 17"/>
          <p:cNvSpPr/>
          <p:nvPr/>
        </p:nvSpPr>
        <p:spPr>
          <a:xfrm>
            <a:off x="4193381" y="1937742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5" name="Text 18"/>
          <p:cNvSpPr/>
          <p:nvPr/>
        </p:nvSpPr>
        <p:spPr>
          <a:xfrm>
            <a:off x="4193381" y="19377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600" dirty="0"/>
          </a:p>
        </p:txBody>
      </p:sp>
      <p:sp>
        <p:nvSpPr>
          <p:cNvPr id="26" name="Text 19"/>
          <p:cNvSpPr/>
          <p:nvPr/>
        </p:nvSpPr>
        <p:spPr>
          <a:xfrm>
            <a:off x="4471988" y="1932022"/>
            <a:ext cx="266283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Aplikasi meminta data ke API atau Database lokal.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086225" y="2255639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8" name="Shape 21"/>
          <p:cNvSpPr/>
          <p:nvPr/>
        </p:nvSpPr>
        <p:spPr>
          <a:xfrm>
            <a:off x="4193381" y="2402086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9" name="Text 22"/>
          <p:cNvSpPr/>
          <p:nvPr/>
        </p:nvSpPr>
        <p:spPr>
          <a:xfrm>
            <a:off x="4193381" y="240208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600" dirty="0"/>
          </a:p>
        </p:txBody>
      </p:sp>
      <p:sp>
        <p:nvSpPr>
          <p:cNvPr id="30" name="Text 23"/>
          <p:cNvSpPr/>
          <p:nvPr/>
        </p:nvSpPr>
        <p:spPr>
          <a:xfrm>
            <a:off x="4471988" y="2396365"/>
            <a:ext cx="3143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diproses dan ditampilkan pada antarmuka pengguna.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086225" y="2719983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2" name="Shape 25"/>
          <p:cNvSpPr/>
          <p:nvPr/>
        </p:nvSpPr>
        <p:spPr>
          <a:xfrm>
            <a:off x="4193381" y="2866430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3" name="Text 26"/>
          <p:cNvSpPr/>
          <p:nvPr/>
        </p:nvSpPr>
        <p:spPr>
          <a:xfrm>
            <a:off x="4193381" y="286643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600" dirty="0"/>
          </a:p>
        </p:txBody>
      </p:sp>
      <p:sp>
        <p:nvSpPr>
          <p:cNvPr id="34" name="Text 27"/>
          <p:cNvSpPr/>
          <p:nvPr/>
        </p:nvSpPr>
        <p:spPr>
          <a:xfrm>
            <a:off x="4471988" y="2860709"/>
            <a:ext cx="3846909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melakukan aksi (input/update) yang memicu perubahan data.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4086225" y="3184327"/>
            <a:ext cx="4414838" cy="3571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6" name="Shape 29"/>
          <p:cNvSpPr/>
          <p:nvPr/>
        </p:nvSpPr>
        <p:spPr>
          <a:xfrm>
            <a:off x="4193381" y="3330773"/>
            <a:ext cx="171450" cy="17145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7" name="Text 30"/>
          <p:cNvSpPr/>
          <p:nvPr/>
        </p:nvSpPr>
        <p:spPr>
          <a:xfrm>
            <a:off x="4193381" y="333077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471988" y="3325053"/>
            <a:ext cx="330219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 memberikan feedback dan menyimpan status terbaru.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Desain UI/UX (Mockup)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778669"/>
            <a:ext cx="3214688" cy="16234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7219" y="957263"/>
            <a:ext cx="2857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Konsep Visual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7219" y="1255514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Tema Warna: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Primary Blue (#1A73E8) &amp; Neutral Gray.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7219" y="1637705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Tipografi: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Montserrat untuk Header, Open Sans untuk Body.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7219" y="2019895"/>
            <a:ext cx="2857500" cy="3107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Gaya:</a:t>
            </a: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Material Design dengan elemen kartu yang bersih.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8625" y="2580680"/>
            <a:ext cx="3214688" cy="1428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55514"/>
            <a:ext cx="57150" cy="1143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637705"/>
            <a:ext cx="57150" cy="1143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019895"/>
            <a:ext cx="5715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7219" y="2759273"/>
            <a:ext cx="28575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07219" y="3057525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Pengguna melakukan registrasi/login.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07219" y="3284339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Navigasi melalui Dashboard utama.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607219" y="3511153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Eksekusi fitur utama (misal: Input Data).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607219" y="3737967"/>
            <a:ext cx="2857500" cy="155377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Menerima notifikasi konfirmasi.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3929063" y="778669"/>
            <a:ext cx="4786313" cy="3571875"/>
          </a:xfrm>
          <a:prstGeom prst="rect">
            <a:avLst/>
          </a:prstGeom>
          <a:solidFill>
            <a:srgbClr val="D1D5DB"/>
          </a:solidFill>
          <a:ln w="27432">
            <a:solidFill>
              <a:srgbClr val="9CA3AF"/>
            </a:solidFill>
            <a:prstDash val="dash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057525"/>
            <a:ext cx="57150" cy="11430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3284339"/>
            <a:ext cx="57150" cy="11430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511153"/>
            <a:ext cx="57150" cy="11430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3737967"/>
            <a:ext cx="57150" cy="1143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107656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0581" y="2414588"/>
            <a:ext cx="342900" cy="3429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219277" y="2864644"/>
            <a:ext cx="12055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[Screenshot Layar Utama]</a:t>
            </a:r>
            <a:endParaRPr lang="en-US" sz="750" dirty="0"/>
          </a:p>
        </p:txBody>
      </p:sp>
      <p:sp>
        <p:nvSpPr>
          <p:cNvPr id="26" name="Shape 15"/>
          <p:cNvSpPr/>
          <p:nvPr/>
        </p:nvSpPr>
        <p:spPr>
          <a:xfrm>
            <a:off x="5607844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769" y="2414588"/>
            <a:ext cx="342900" cy="3429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739110" y="2864644"/>
            <a:ext cx="116621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[Screenshot Fitur Utama]</a:t>
            </a:r>
            <a:endParaRPr lang="en-US" sz="750" dirty="0"/>
          </a:p>
        </p:txBody>
      </p:sp>
      <p:sp>
        <p:nvSpPr>
          <p:cNvPr id="29" name="Shape 17"/>
          <p:cNvSpPr/>
          <p:nvPr/>
        </p:nvSpPr>
        <p:spPr>
          <a:xfrm>
            <a:off x="7108031" y="1278731"/>
            <a:ext cx="1428750" cy="2857500"/>
          </a:xfrm>
          <a:prstGeom prst="rect">
            <a:avLst/>
          </a:prstGeom>
          <a:solidFill>
            <a:srgbClr val="F3F4F6"/>
          </a:solidFill>
          <a:ln w="54864">
            <a:solidFill>
              <a:srgbClr val="374151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0956" y="2414588"/>
            <a:ext cx="342900" cy="3429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7241084" y="2864644"/>
            <a:ext cx="1162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[Screenshot Profil/Menu]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Implementasi Fitur Utama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2619356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7219" y="1064419"/>
            <a:ext cx="2262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CORE FEATURE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274266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9752" y="1257300"/>
            <a:ext cx="9679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Fitur Utama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7219" y="1591270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Penjelasan fungsionalitas fitur paling krusial bagi pengguna.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07219" y="1997013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Bagaimana fitur ini menyelesaikan masalah utama.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07219" y="2424187"/>
            <a:ext cx="2262169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619845"/>
            <a:ext cx="53578" cy="119993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025588"/>
            <a:ext cx="53578" cy="1199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375" y="253134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714375" y="270279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Implementasi menggunakan [Library/API]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714375" y="2909962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dengan pola [Arsitektur].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3262294" y="850106"/>
            <a:ext cx="2619384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1"/>
          <p:cNvSpPr/>
          <p:nvPr/>
        </p:nvSpPr>
        <p:spPr>
          <a:xfrm>
            <a:off x="3440888" y="1064419"/>
            <a:ext cx="22621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SUPPORTING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274266"/>
            <a:ext cx="157163" cy="1571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83775" y="1257300"/>
            <a:ext cx="138053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Fitur Pendukung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440888" y="1591270"/>
            <a:ext cx="2262197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Fitur yang mendukung operasional fitur utama.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3440888" y="1997013"/>
            <a:ext cx="2262197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Manajemen data atau sinkronisasi informasi.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440888" y="2424187"/>
            <a:ext cx="2262197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1619845"/>
            <a:ext cx="53578" cy="119993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888" y="2025588"/>
            <a:ext cx="53578" cy="11999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8044" y="2531343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26" name="Text 17"/>
          <p:cNvSpPr/>
          <p:nvPr/>
        </p:nvSpPr>
        <p:spPr>
          <a:xfrm>
            <a:off x="3548044" y="2702793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Integrasi dengan [Database/Service] untuk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3548044" y="2909962"/>
            <a:ext cx="20478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persistensi data.</a:t>
            </a:r>
            <a:endParaRPr lang="en-US" sz="750" dirty="0"/>
          </a:p>
        </p:txBody>
      </p:sp>
      <p:sp>
        <p:nvSpPr>
          <p:cNvPr id="28" name="Shape 19"/>
          <p:cNvSpPr/>
          <p:nvPr/>
        </p:nvSpPr>
        <p:spPr>
          <a:xfrm>
            <a:off x="6095991" y="850106"/>
            <a:ext cx="2619356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0"/>
          <p:cNvSpPr/>
          <p:nvPr/>
        </p:nvSpPr>
        <p:spPr>
          <a:xfrm>
            <a:off x="6274584" y="1064419"/>
            <a:ext cx="2262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ENHANCEMENT</a:t>
            </a:r>
            <a:endParaRPr lang="en-US" sz="7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4584" y="1274266"/>
            <a:ext cx="157163" cy="15716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17472" y="1257300"/>
            <a:ext cx="1287661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Fitur Tambahan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6274584" y="1591270"/>
            <a:ext cx="2262169" cy="32001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Fitur pelengkap untuk meningkatkan UX (misal: Dark Mode).</a:t>
            </a:r>
            <a:endParaRPr lang="en-US" sz="850" dirty="0"/>
          </a:p>
        </p:txBody>
      </p:sp>
      <p:sp>
        <p:nvSpPr>
          <p:cNvPr id="33" name="Text 23"/>
          <p:cNvSpPr/>
          <p:nvPr/>
        </p:nvSpPr>
        <p:spPr>
          <a:xfrm>
            <a:off x="6274584" y="1997013"/>
            <a:ext cx="2262169" cy="16000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Notifikasi atau integrasi media sosial.</a:t>
            </a:r>
            <a:endParaRPr lang="en-US" sz="850" dirty="0"/>
          </a:p>
        </p:txBody>
      </p:sp>
      <p:sp>
        <p:nvSpPr>
          <p:cNvPr id="34" name="Shape 24"/>
          <p:cNvSpPr/>
          <p:nvPr/>
        </p:nvSpPr>
        <p:spPr>
          <a:xfrm>
            <a:off x="6274584" y="2264178"/>
            <a:ext cx="2262169" cy="621506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84" y="1619845"/>
            <a:ext cx="53578" cy="119993"/>
          </a:xfrm>
          <a:prstGeom prst="rect">
            <a:avLst/>
          </a:prstGeom>
        </p:spPr>
      </p:pic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584" y="2025588"/>
            <a:ext cx="53578" cy="11999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381741" y="2371334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Aspek Teknis:</a:t>
            </a:r>
            <a:endParaRPr lang="en-US" sz="700" dirty="0"/>
          </a:p>
        </p:txBody>
      </p:sp>
      <p:sp>
        <p:nvSpPr>
          <p:cNvPr id="38" name="Text 26"/>
          <p:cNvSpPr/>
          <p:nvPr/>
        </p:nvSpPr>
        <p:spPr>
          <a:xfrm>
            <a:off x="6381741" y="2542784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Optimasi UI menggunakan [Custom</a:t>
            </a:r>
            <a:endParaRPr lang="en-US" sz="750" dirty="0"/>
          </a:p>
        </p:txBody>
      </p:sp>
      <p:sp>
        <p:nvSpPr>
          <p:cNvPr id="39" name="Text 27"/>
          <p:cNvSpPr/>
          <p:nvPr/>
        </p:nvSpPr>
        <p:spPr>
          <a:xfrm>
            <a:off x="6381741" y="2749953"/>
            <a:ext cx="204785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View/Animation].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Rencana Pengujian (Testing)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1544" y="1064419"/>
            <a:ext cx="163056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Metode Pengujian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489472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1451967"/>
            <a:ext cx="10429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Black Box Testing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42938" y="1698427"/>
            <a:ext cx="35718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Fokus pada pengujian fungsionalitas aplikasi tanpa melihat struktur kode internal. Memastikan input menghasilkan output yang sesuai.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498834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1886" y="2461329"/>
            <a:ext cx="10733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 Box Testing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42938" y="2707788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Pengujian struktur internal, alur logika, dan integrasi antar modul kode untuk memastikan efisiensi dan keamanan data.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325332"/>
            <a:ext cx="125016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39391" y="3287827"/>
            <a:ext cx="1632347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1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 (UAT)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642938" y="3534287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Validasi akhir oleh pengguna untuk memastikan aplikasi memenuhi kebutuhan bisnis dan ekspektasi pengguna.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71487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083171"/>
            <a:ext cx="128588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64931" y="1064419"/>
            <a:ext cx="10572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Skenario Uji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929188" y="1451967"/>
            <a:ext cx="727379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2"/>
          <p:cNvSpPr/>
          <p:nvPr/>
        </p:nvSpPr>
        <p:spPr>
          <a:xfrm>
            <a:off x="4929188" y="1651992"/>
            <a:ext cx="727379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1" name="Text 13"/>
          <p:cNvSpPr/>
          <p:nvPr/>
        </p:nvSpPr>
        <p:spPr>
          <a:xfrm>
            <a:off x="4929188" y="1451967"/>
            <a:ext cx="727379" cy="214313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Fitur</a:t>
            </a:r>
            <a:endParaRPr lang="en-US" sz="700" dirty="0"/>
          </a:p>
        </p:txBody>
      </p:sp>
      <p:sp>
        <p:nvSpPr>
          <p:cNvPr id="22" name="Shape 14"/>
          <p:cNvSpPr/>
          <p:nvPr/>
        </p:nvSpPr>
        <p:spPr>
          <a:xfrm>
            <a:off x="5656566" y="1451967"/>
            <a:ext cx="1501918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15"/>
          <p:cNvSpPr/>
          <p:nvPr/>
        </p:nvSpPr>
        <p:spPr>
          <a:xfrm>
            <a:off x="5656566" y="1651992"/>
            <a:ext cx="1501918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4" name="Text 16"/>
          <p:cNvSpPr/>
          <p:nvPr/>
        </p:nvSpPr>
        <p:spPr>
          <a:xfrm>
            <a:off x="5656566" y="1451967"/>
            <a:ext cx="1501918" cy="214313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Skenario</a:t>
            </a:r>
            <a:endParaRPr lang="en-US" sz="700" dirty="0"/>
          </a:p>
        </p:txBody>
      </p:sp>
      <p:sp>
        <p:nvSpPr>
          <p:cNvPr id="25" name="Shape 17"/>
          <p:cNvSpPr/>
          <p:nvPr/>
        </p:nvSpPr>
        <p:spPr>
          <a:xfrm>
            <a:off x="7158484" y="1451967"/>
            <a:ext cx="1342579" cy="2143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18"/>
          <p:cNvSpPr/>
          <p:nvPr/>
        </p:nvSpPr>
        <p:spPr>
          <a:xfrm>
            <a:off x="7158484" y="1651992"/>
            <a:ext cx="1342579" cy="1428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27" name="Text 19"/>
          <p:cNvSpPr/>
          <p:nvPr/>
        </p:nvSpPr>
        <p:spPr>
          <a:xfrm>
            <a:off x="7158484" y="1451967"/>
            <a:ext cx="1342579" cy="214313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Hasil Diharapkan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4929188" y="1659136"/>
            <a:ext cx="727379" cy="225028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5656566" y="1659136"/>
            <a:ext cx="1501918" cy="22502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email &amp; pass valid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7158484" y="1659136"/>
            <a:ext cx="1342579" cy="225028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Masuk ke Dashboard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4929188" y="18841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Data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5656566" y="18841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kosong &amp; submit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7158484" y="18841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Muncul pesan error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4929188" y="21127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Sync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5656566" y="21127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Koneksi internet mati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7158484" y="21127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tersimpan lokal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4929188" y="2341364"/>
            <a:ext cx="727379" cy="228600"/>
          </a:xfrm>
          <a:prstGeom prst="rect">
            <a:avLst/>
          </a:prstGeom>
          <a:noFill/>
          <a:ln/>
        </p:spPr>
        <p:txBody>
          <a:bodyPr wrap="non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Notifikasi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5656566" y="2341364"/>
            <a:ext cx="1501918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Aksi pemicu selesai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7158484" y="2341364"/>
            <a:ext cx="1342579" cy="228600"/>
          </a:xfrm>
          <a:prstGeom prst="rect">
            <a:avLst/>
          </a:prstGeom>
          <a:noFill/>
          <a:ln/>
        </p:spPr>
        <p:txBody>
          <a:bodyPr wrap="square" lIns="102108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 notif muncul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4929188" y="2752130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i="1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 Pengujian dilakukan pada perangkat fisik (Android/iOS) dan emulator untuk memastikan kompatibilitas.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Timeline Proyek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1-2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28625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35781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Riset &amp; Desain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5781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Kebutuhan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35781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Perancangan UI/UX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35781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Environment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2718197"/>
            <a:ext cx="85725" cy="8572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" y="2911078"/>
            <a:ext cx="85725" cy="8572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3103959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00313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3-5</a:t>
            </a:r>
            <a:endParaRPr lang="en-US" sz="800" dirty="0"/>
          </a:p>
        </p:txBody>
      </p:sp>
      <p:sp>
        <p:nvSpPr>
          <p:cNvPr id="14" name="Shape 8"/>
          <p:cNvSpPr/>
          <p:nvPr/>
        </p:nvSpPr>
        <p:spPr>
          <a:xfrm>
            <a:off x="2500313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9"/>
          <p:cNvSpPr/>
          <p:nvPr/>
        </p:nvSpPr>
        <p:spPr>
          <a:xfrm>
            <a:off x="2607469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2607469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Coding Frontend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2607469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Integrasi Backend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2607469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Manajemen Database</a:t>
            </a:r>
            <a:endParaRPr lang="en-US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7469" y="2718197"/>
            <a:ext cx="85725" cy="8572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7469" y="2911078"/>
            <a:ext cx="85725" cy="85725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469" y="3103959"/>
            <a:ext cx="85725" cy="85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0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6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572000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5"/>
          <p:cNvSpPr/>
          <p:nvPr/>
        </p:nvSpPr>
        <p:spPr>
          <a:xfrm>
            <a:off x="4679156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Testing</a:t>
            </a:r>
            <a:endParaRPr lang="en-US" sz="950" dirty="0"/>
          </a:p>
        </p:txBody>
      </p:sp>
      <p:sp>
        <p:nvSpPr>
          <p:cNvPr id="25" name="Text 16"/>
          <p:cNvSpPr/>
          <p:nvPr/>
        </p:nvSpPr>
        <p:spPr>
          <a:xfrm>
            <a:off x="4679156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 Testing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4679156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Bug Fixing</a:t>
            </a:r>
            <a:endParaRPr lang="en-US" sz="750" dirty="0"/>
          </a:p>
        </p:txBody>
      </p:sp>
      <p:sp>
        <p:nvSpPr>
          <p:cNvPr id="27" name="Text 18"/>
          <p:cNvSpPr/>
          <p:nvPr/>
        </p:nvSpPr>
        <p:spPr>
          <a:xfrm>
            <a:off x="4679156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Acceptance Test</a:t>
            </a:r>
            <a:endParaRPr lang="en-US" sz="7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2718197"/>
            <a:ext cx="85725" cy="85725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9156" y="2911078"/>
            <a:ext cx="85725" cy="85725"/>
          </a:xfrm>
          <a:prstGeom prst="rect">
            <a:avLst/>
          </a:prstGeom>
        </p:spPr>
      </p:pic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156" y="3103959"/>
            <a:ext cx="85725" cy="8572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643688" y="1707356"/>
            <a:ext cx="20716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Minggu 7-8</a:t>
            </a:r>
            <a:endParaRPr lang="en-US" sz="800" dirty="0"/>
          </a:p>
        </p:txBody>
      </p:sp>
      <p:sp>
        <p:nvSpPr>
          <p:cNvPr id="32" name="Shape 20"/>
          <p:cNvSpPr/>
          <p:nvPr/>
        </p:nvSpPr>
        <p:spPr>
          <a:xfrm>
            <a:off x="6643688" y="2311003"/>
            <a:ext cx="2071688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1"/>
          <p:cNvSpPr/>
          <p:nvPr/>
        </p:nvSpPr>
        <p:spPr>
          <a:xfrm>
            <a:off x="6750844" y="2453878"/>
            <a:ext cx="1857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Finalisasi</a:t>
            </a:r>
            <a:endParaRPr lang="en-US" sz="950" dirty="0"/>
          </a:p>
        </p:txBody>
      </p:sp>
      <p:sp>
        <p:nvSpPr>
          <p:cNvPr id="34" name="Text 22"/>
          <p:cNvSpPr/>
          <p:nvPr/>
        </p:nvSpPr>
        <p:spPr>
          <a:xfrm>
            <a:off x="6750844" y="2718197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Optimasi Performa</a:t>
            </a:r>
            <a:endParaRPr lang="en-US" sz="750" dirty="0"/>
          </a:p>
        </p:txBody>
      </p:sp>
      <p:sp>
        <p:nvSpPr>
          <p:cNvPr id="35" name="Text 23"/>
          <p:cNvSpPr/>
          <p:nvPr/>
        </p:nvSpPr>
        <p:spPr>
          <a:xfrm>
            <a:off x="6750844" y="2911078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Dokumentasi Kode</a:t>
            </a:r>
            <a:endParaRPr lang="en-US" sz="750" dirty="0"/>
          </a:p>
        </p:txBody>
      </p:sp>
      <p:sp>
        <p:nvSpPr>
          <p:cNvPr id="36" name="Text 24"/>
          <p:cNvSpPr/>
          <p:nvPr/>
        </p:nvSpPr>
        <p:spPr>
          <a:xfrm>
            <a:off x="6750844" y="3103959"/>
            <a:ext cx="1857375" cy="13573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Persiapan Presentasi</a:t>
            </a:r>
            <a:endParaRPr lang="en-US" sz="7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0844" y="2718197"/>
            <a:ext cx="85725" cy="85725"/>
          </a:xfrm>
          <a:prstGeom prst="rect">
            <a:avLst/>
          </a:prstGeom>
        </p:spPr>
      </p:pic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0844" y="2911078"/>
            <a:ext cx="85725" cy="85725"/>
          </a:xfrm>
          <a:prstGeom prst="rect">
            <a:avLst/>
          </a:prstGeom>
        </p:spPr>
      </p:pic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0844" y="3103959"/>
            <a:ext cx="85725" cy="8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715375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83171"/>
            <a:ext cx="128588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8681" y="1064419"/>
            <a:ext cx="105191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Kesimpulan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480542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1451967"/>
            <a:ext cx="33361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Pencapaian Tujuan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78681" y="1644848"/>
            <a:ext cx="3336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Rangkuman apakah aplikasi berhasil menyelesaikan masalah yang diidentifikasi di awal.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159198"/>
            <a:ext cx="9644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6534" y="2130623"/>
            <a:ext cx="336827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Nilai Jual Unik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46534" y="2323505"/>
            <a:ext cx="3368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Kelebihan utama aplikasi dibandingkan solusi yang sudah ada atau metode manual.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837855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8681" y="2809280"/>
            <a:ext cx="33361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Stabilitas Sistem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878681" y="3002161"/>
            <a:ext cx="3336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Hasil akhir pengujian menunjukkan aplikasi layak digunakan oleh target pengguna.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4714875" y="850106"/>
            <a:ext cx="4000500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083171"/>
            <a:ext cx="171450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07794" y="1064419"/>
            <a:ext cx="257532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Pengembangan Masa Depan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4929188" y="1451967"/>
            <a:ext cx="66436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0" name="Text 12"/>
          <p:cNvSpPr/>
          <p:nvPr/>
        </p:nvSpPr>
        <p:spPr>
          <a:xfrm>
            <a:off x="4929188" y="1451967"/>
            <a:ext cx="66436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PHASE</a:t>
            </a:r>
            <a:endParaRPr lang="en-US" sz="600" dirty="0"/>
          </a:p>
        </p:txBody>
      </p:sp>
      <p:sp>
        <p:nvSpPr>
          <p:cNvPr id="21" name="Text 13"/>
          <p:cNvSpPr/>
          <p:nvPr/>
        </p:nvSpPr>
        <p:spPr>
          <a:xfrm>
            <a:off x="4929188" y="1675209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Integrasi Lanjutan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929188" y="1868091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Saran untuk menghubungkan aplikasi dengan sistem pihak ketiga atau API yang lebih kompleks.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4929188" y="2353866"/>
            <a:ext cx="76080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4" name="Text 16"/>
          <p:cNvSpPr/>
          <p:nvPr/>
        </p:nvSpPr>
        <p:spPr>
          <a:xfrm>
            <a:off x="4929188" y="2353866"/>
            <a:ext cx="76080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</a:t>
            </a:r>
            <a:endParaRPr lang="en-US" sz="600" dirty="0"/>
          </a:p>
        </p:txBody>
      </p:sp>
      <p:sp>
        <p:nvSpPr>
          <p:cNvPr id="25" name="Text 17"/>
          <p:cNvSpPr/>
          <p:nvPr/>
        </p:nvSpPr>
        <p:spPr>
          <a:xfrm>
            <a:off x="4929188" y="2577108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Peningkatan Fitur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29188" y="2769989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Penambahan fitur baru berdasarkan feedback pengguna selama tahap pengujian.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4929188" y="3255764"/>
            <a:ext cx="664369" cy="151805"/>
          </a:xfrm>
          <a:prstGeom prst="roundRect">
            <a:avLst/>
          </a:prstGeom>
          <a:solidFill>
            <a:srgbClr val="E8F0FE"/>
          </a:solidFill>
          <a:ln/>
        </p:spPr>
      </p:sp>
      <p:sp>
        <p:nvSpPr>
          <p:cNvPr id="28" name="Text 20"/>
          <p:cNvSpPr/>
          <p:nvPr/>
        </p:nvSpPr>
        <p:spPr>
          <a:xfrm>
            <a:off x="4929188" y="3255764"/>
            <a:ext cx="664369" cy="151805"/>
          </a:xfrm>
          <a:prstGeom prst="rect">
            <a:avLst/>
          </a:prstGeom>
          <a:noFill/>
          <a:ln/>
        </p:spPr>
        <p:txBody>
          <a:bodyPr wrap="none" lIns="102108" tIns="42545" rIns="102108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73E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SCALABILITY</a:t>
            </a:r>
            <a:endParaRPr lang="en-US" sz="600" dirty="0"/>
          </a:p>
        </p:txBody>
      </p:sp>
      <p:sp>
        <p:nvSpPr>
          <p:cNvPr id="29" name="Text 21"/>
          <p:cNvSpPr/>
          <p:nvPr/>
        </p:nvSpPr>
        <p:spPr>
          <a:xfrm>
            <a:off x="4929188" y="3479006"/>
            <a:ext cx="35718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Ekspansi Platform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929188" y="3671888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Rencana untuk merilis aplikasi di platform lain (misal: dari Android ke iOS atau Web).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11846" y="785813"/>
            <a:ext cx="5320308" cy="3571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2340471" y="1214438"/>
            <a:ext cx="446305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A73E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Terima Kasih!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340471" y="1914525"/>
            <a:ext cx="446305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Sesi Tanya Jawab &amp; Diskusi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40471" y="2478881"/>
            <a:ext cx="4463058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Apakah ada pertanyaan atau masukan terkait proyek ini?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81" y="2959298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40471" y="3259336"/>
            <a:ext cx="14198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email@mahasiswa.ac.id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896" y="2959298"/>
            <a:ext cx="221456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46041" y="3259336"/>
            <a:ext cx="132516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github.com/username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943" y="2959298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56957" y="3259336"/>
            <a:ext cx="11465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portfolio-anda.com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2340471" y="3791545"/>
            <a:ext cx="446305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Proyek Akhir Mata Kuliah Mobile Programming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2026-05-18T22:22:49Z</dcterms:created>
  <dcterms:modified xsi:type="dcterms:W3CDTF">2026-05-18T22:22:49Z</dcterms:modified>
</cp:coreProperties>
</file>